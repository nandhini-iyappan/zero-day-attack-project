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04F6F0-117D-425C-8B36-D3A45D378B3B}">
  <a:tblStyle styleId="{CE04F6F0-117D-425C-8B36-D3A45D378B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77AEEB4-5714-4091-98E3-DFDAF2081A8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4bd0001df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44bd0001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f4fc30cbe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6f4fc30cb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dec24e33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6dec24e3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4bd000426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44bd00042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32ff31f4d_6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632ff31f4d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32ff31f4d_6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632ff31f4d_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4bd000426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44bd00042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caf00dd6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8caf00dd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46661fad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46661f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14a96df5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714a96df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d32009805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8d3200980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098cc68bb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a098cc68b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dec24e33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6dec24e3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46661fada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946661fad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8885edb03_1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78885edb0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46661fada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946661fad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d32009805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8d3200980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46661fada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946661fad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46661fada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946661fad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46661fada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946661fad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46661fada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946661fa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d32009805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8d3200980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dec24e331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6dec24e33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0a30dd32b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a0a30dd32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8885edb0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78885edb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c90d81b3d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8c90d81b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c90d81b3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8c90d81b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098cc68b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a098cc6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098cc68b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a098cc68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caf00dd60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8caf00dd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dec24e331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6dec24e33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098cc68b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a098cc68b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098cc68bb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a098cc68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32ff31f4d_6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632ff31f4d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32ff31f4d_6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632ff31f4d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44bd000426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44bd00042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f4fc30cb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6f4fc30cb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f5796b3fc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6f5796b3f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dec24e331_5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6dec24e331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kaggle.com/datasets/chethuhn/network-intrusion-dataset" TargetMode="External"/><Relationship Id="rId4" Type="http://schemas.openxmlformats.org/officeDocument/2006/relationships/hyperlink" Target="https://www.kaggle.com/datasets/nkongolo/ugransome-datase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3390/electronics910168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arxiv.org/abs/1802.09572" TargetMode="External"/><Relationship Id="rId4" Type="http://schemas.openxmlformats.org/officeDocument/2006/relationships/hyperlink" Target="https://arxiv.org/abs/1802.09572" TargetMode="External"/><Relationship Id="rId9" Type="http://schemas.openxmlformats.org/officeDocument/2006/relationships/hyperlink" Target="https://doi.org/10.1007/s10207-023-00676-0" TargetMode="External"/><Relationship Id="rId5" Type="http://schemas.openxmlformats.org/officeDocument/2006/relationships/hyperlink" Target="https://ieeexplore.ieee.org/document/9448992" TargetMode="External"/><Relationship Id="rId6" Type="http://schemas.openxmlformats.org/officeDocument/2006/relationships/hyperlink" Target="https://ieeexplore.ieee.org/document/9448992" TargetMode="External"/><Relationship Id="rId7" Type="http://schemas.openxmlformats.org/officeDocument/2006/relationships/hyperlink" Target="https://doi.org/10.1016/j.jnca.2020.102767" TargetMode="External"/><Relationship Id="rId8" Type="http://schemas.openxmlformats.org/officeDocument/2006/relationships/hyperlink" Target="https://doi.org/10.1109/SURV.2008.080406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i.org/10.1016/j.comcom.2022.11.001" TargetMode="External"/><Relationship Id="rId4" Type="http://schemas.openxmlformats.org/officeDocument/2006/relationships/hyperlink" Target="https://doi.org/10.1016/j.comcom.2022.11.001" TargetMode="External"/><Relationship Id="rId9" Type="http://schemas.openxmlformats.org/officeDocument/2006/relationships/hyperlink" Target="https://arxiv.org/abs/2203.05232" TargetMode="External"/><Relationship Id="rId5" Type="http://schemas.openxmlformats.org/officeDocument/2006/relationships/hyperlink" Target="https://doi.org/10.1007/978-3-031-86637-1_5" TargetMode="External"/><Relationship Id="rId6" Type="http://schemas.openxmlformats.org/officeDocument/2006/relationships/hyperlink" Target="https://arxiv.org/abs/1905.03685" TargetMode="External"/><Relationship Id="rId7" Type="http://schemas.openxmlformats.org/officeDocument/2006/relationships/hyperlink" Target="https://arxiv.org/abs/2203.05232" TargetMode="External"/><Relationship Id="rId8" Type="http://schemas.openxmlformats.org/officeDocument/2006/relationships/hyperlink" Target="https://arxiv.org/abs/1503.06468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415600" y="460000"/>
            <a:ext cx="113608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19I720-PROJECT PHASE-1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Times New Roman"/>
              <a:buNone/>
            </a:pPr>
            <a:r>
              <a:rPr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</a:t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Times New Roman"/>
              <a:buNone/>
            </a:pPr>
            <a:r>
              <a:t/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ZERO-DAY ATTACK DETECTION AND PREVENTION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904408" y="3425208"/>
            <a:ext cx="42876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en-US" sz="21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Jemi Wilson P - 22i227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Keerti N - 22i229 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Nandhini I - 22i235 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Shahnaz SM - 22i254 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4508" y="3425208"/>
            <a:ext cx="64881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GUIDE:</a:t>
            </a:r>
            <a:endParaRPr b="1" i="0" sz="2133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</a:t>
            </a: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Padmashani R</a:t>
            </a: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[Sl.Gr.]  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  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PSG College of Technology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-2470500" y="59885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865600" y="1301550"/>
            <a:ext cx="101763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chart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-1347375" y="6853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94500" y="1429875"/>
            <a:ext cx="101763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404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Intrusion Detection Systems (IDS) fail to detect zero-day attacks as they rely on known attack signatures.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Zero-day attacks pose a major threat to network security due to their unpredictable and evolving nature.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detection techniques that can identify abnormal behavior without prior knowledge.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4045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●"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combined system for real-time detection and active prevention is essential to strengthen cybersecurity against unknown threats.</a:t>
            </a:r>
            <a:endParaRPr sz="21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i="0" sz="21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ctrTitle"/>
          </p:nvPr>
        </p:nvSpPr>
        <p:spPr>
          <a:xfrm>
            <a:off x="-2216575" y="6199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 flipH="1">
            <a:off x="12192261" y="40582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694800" y="1221925"/>
            <a:ext cx="10802400" cy="4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aims to develop an intrusion detection and prevention system for detecting both known and zero-day cyberattacks.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autoencoder (DAE) and Causal Recurrent Network (CRN) models are trained on normal network traffic—one for structural events and one for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events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—to learn standard behavior patterns.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outputs from these expert models are fused, and high-anomaly events are further processed to classify known attacks using a supervised multi-class model, providing interpretable attack types while unknown events are flagged as zero-day threats.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deployment, a master–client architecture is implemented: the client systems perform real-time monitoring and send extracted traffic features to the master system.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master system analyzes these inputs using the trained model, and when suspicious packets are detected, it enforces prevention actions such as blocking or isolating the source.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setup enables centralized detection and control, ensuring scalable, efficient, and adaptive protection against zero-day threats.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ctrTitle"/>
          </p:nvPr>
        </p:nvSpPr>
        <p:spPr>
          <a:xfrm>
            <a:off x="-935325" y="0"/>
            <a:ext cx="60540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" name="Google Shape;122;p18"/>
          <p:cNvGraphicFramePr/>
          <p:nvPr/>
        </p:nvGraphicFramePr>
        <p:xfrm>
          <a:off x="367475" y="6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{CE04F6F0-117D-425C-8B36-D3A45D378B3B}</a:tableStyleId>
              </a:tblPr>
              <a:tblGrid>
                <a:gridCol w="723075"/>
                <a:gridCol w="1907375"/>
                <a:gridCol w="1792825"/>
                <a:gridCol w="2309475"/>
                <a:gridCol w="2278175"/>
                <a:gridCol w="2307725"/>
              </a:tblGrid>
              <a:tr h="96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ML/DL MODEL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77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of Zero-Day Attacks in Computer Networks Using Combined Classification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Concurrency and Computation: Practice and Experience (Wiley), 2022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Achieves higher detection accuracy by fusing multiple classifiers.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Ensemble/combined classification.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expensive; model complexity makes deployment harder.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6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 Zero-Shot Machine Learning to Zero-Day Attack Detection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Int. Journal of Information Security (Springer), 2023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zero-day attacks by transferring knowledge from known classes.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Zero-shot learning (ZSL).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Relies heavily on semantic mapping; accuracy drops for highly novel attacks.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6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Unsupervised Approach for the Detection of Zero-Day Attacks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IET Networks (Wiley/IET), 2024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unseen intrusions without prior attack signatures.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intrusion detection (clustering or autoencoder).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false alarm rate due to lack of labels.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" name="Google Shape;123;p18"/>
          <p:cNvSpPr txBox="1"/>
          <p:nvPr/>
        </p:nvSpPr>
        <p:spPr>
          <a:xfrm>
            <a:off x="11213850" y="1278550"/>
            <a:ext cx="102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ctrTitle"/>
          </p:nvPr>
        </p:nvSpPr>
        <p:spPr>
          <a:xfrm>
            <a:off x="-964025" y="39925"/>
            <a:ext cx="60540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335750" y="72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{CE04F6F0-117D-425C-8B36-D3A45D378B3B}</a:tableStyleId>
              </a:tblPr>
              <a:tblGrid>
                <a:gridCol w="712250"/>
                <a:gridCol w="2081275"/>
                <a:gridCol w="2260125"/>
                <a:gridCol w="1578225"/>
                <a:gridCol w="2244000"/>
                <a:gridCol w="2273150"/>
              </a:tblGrid>
              <a:tr h="62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ML/DL MODEL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84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Anomaly Detection Based on CNN and Regularization Techniques Against Zero-Day Attacks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Access, 2022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Improves IoT zero-day detection compared to traditional ML.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with L1/L2 regularization.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heavy for IoT; limited transferability to other domains.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52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Detecting Zero-Day Malware Using Machine Learning Unde</a:t>
                      </a: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Cuckoo 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 and Communication Networks (Wiley–Hindawi),2022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Sandbox environment boosts malware zero-day detection.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 classifiers on sandbox-generated features.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Sandbox analysis is resource-intensive and slower for large-scale traffic.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84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Detecting Zero-Day Intrusion Attacks Using Semi Supervised Machine Learning Approaches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Access, 2022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zero-day intrusions with minimal labels.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Semi-supervised ML (clustering + classification).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false positives when traffic is noisy.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" name="Google Shape;131;p19"/>
          <p:cNvSpPr txBox="1"/>
          <p:nvPr/>
        </p:nvSpPr>
        <p:spPr>
          <a:xfrm>
            <a:off x="11213850" y="1278550"/>
            <a:ext cx="102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3" name="Google Shape;133;p1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ctrTitle"/>
          </p:nvPr>
        </p:nvSpPr>
        <p:spPr>
          <a:xfrm>
            <a:off x="-859750" y="39925"/>
            <a:ext cx="60540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0"/>
          <p:cNvSpPr txBox="1"/>
          <p:nvPr>
            <p:ph idx="1" type="subTitle"/>
          </p:nvPr>
        </p:nvSpPr>
        <p:spPr>
          <a:xfrm flipH="1">
            <a:off x="12192261" y="3998161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0" name="Google Shape;140;p20"/>
          <p:cNvGraphicFramePr/>
          <p:nvPr/>
        </p:nvGraphicFramePr>
        <p:xfrm>
          <a:off x="436675" y="69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{CE04F6F0-117D-425C-8B36-D3A45D378B3B}</a:tableStyleId>
              </a:tblPr>
              <a:tblGrid>
                <a:gridCol w="693175"/>
                <a:gridCol w="1871300"/>
                <a:gridCol w="1675925"/>
                <a:gridCol w="2427875"/>
                <a:gridCol w="1970125"/>
                <a:gridCol w="2212300"/>
              </a:tblGrid>
              <a:tr h="81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ML/DL MODEL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6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of Zero Day Attack Detection Using MLP and XAI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Advanced Computing Techniques, (Springer),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interpretable decision-making for zero-day detection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Multilayer Perceptron (MLP) + Explainable AI (XAI).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MLP alone may not capture complex traffic patterns; limited scalability.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80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Explainable AI for Zero-Day Attack Detection in IoT Networks Using Attention Fusion Model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Discover Internet of Things (Springer),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Combines multiple input views with attention to improve IoT zero-day attack detection, while providing interpretability of decisions.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Attention-fusion deep learning model + Explainable AI (XAI).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 mechanisms still computationally heavy for IoT devices; interpretability may not always be intuitive.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4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Zero-day attack detection using ensemble/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un-supervised algorithms.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Access(2021)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of unsupervised models effective in detecting unknown </a:t>
                      </a: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threats</a:t>
                      </a: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web/IoT contexts.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+ unsupervised methods (Isolation Forest, clustering, etc.)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Generic ensemble – model comparisons limited; false positives not fully addressed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0"/>
          <p:cNvSpPr txBox="1"/>
          <p:nvPr/>
        </p:nvSpPr>
        <p:spPr>
          <a:xfrm>
            <a:off x="11213850" y="1278550"/>
            <a:ext cx="102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2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" name="Google Shape;144;p2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-2120875" y="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/>
          <p:nvPr>
            <p:ph idx="1" type="subTitle"/>
          </p:nvPr>
        </p:nvSpPr>
        <p:spPr>
          <a:xfrm flipH="1">
            <a:off x="122684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1" title="Screenshot 2025-11-06 2128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825" y="62725"/>
            <a:ext cx="8644649" cy="66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ctrTitle"/>
          </p:nvPr>
        </p:nvSpPr>
        <p:spPr>
          <a:xfrm>
            <a:off x="348675" y="617425"/>
            <a:ext cx="117228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COMPONENTS WORK TOGETHER TO DETECT </a:t>
            </a:r>
            <a:endParaRPr sz="264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DAY/KNOWN ATTACKS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 flipH="1">
            <a:off x="12192261" y="3998161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11213850" y="1278550"/>
            <a:ext cx="102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0" name="Google Shape;160;p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1" name="Google Shape;161;p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p22"/>
          <p:cNvSpPr txBox="1"/>
          <p:nvPr/>
        </p:nvSpPr>
        <p:spPr>
          <a:xfrm>
            <a:off x="792500" y="1708800"/>
            <a:ext cx="10236300" cy="5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DAE gives anomaly signal → CRN encodes temporal context.</a:t>
            </a:r>
            <a:endParaRPr sz="21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Fused score and causal threshold to </a:t>
            </a: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differentiate</a:t>
            </a: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normal and attack packets.</a:t>
            </a:r>
            <a:endParaRPr sz="21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Centroid distances flag zero-day clusters → CatBoost classifies known ones.</a:t>
            </a:r>
            <a:endParaRPr sz="21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Combined decision (reconstruction error + centroid distance + confidence) improves accuracy &amp; reduces false positives.</a:t>
            </a:r>
            <a:endParaRPr sz="21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458825" y="1827650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0" y="575475"/>
            <a:ext cx="43788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145375" y="164350"/>
            <a:ext cx="11961900" cy="6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309825" y="369425"/>
            <a:ext cx="7553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USED</a:t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309825" y="1087625"/>
            <a:ext cx="10746900" cy="5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Cic-IDS 2017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realistic network traffic with both benign and multiple attack types for intrusion detection research. Includes detailed flow-based features (e.g., packet sizes, duration, protocols)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https://www.kaggle.com/datasets/chethuhn/network-intrusion-dataset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UGRansome Dataset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Focused on ransomware and malware traffic in network environments. Contains labeled families, threats, and predictions, helping classify and analyze malicious behavior.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https://www.kaggle.com/datasets/nkongolo/ugransome-dataset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ctrTitle"/>
          </p:nvPr>
        </p:nvSpPr>
        <p:spPr>
          <a:xfrm>
            <a:off x="306300" y="990313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5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1 - Data Preparation//Preprocessing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4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0" y="1720600"/>
            <a:ext cx="116001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19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Formation: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hybrid dataset was created by combining publicly available UGRansome attack records with Wireshark-captured real network traffic, resulting in a dataset of shape (1,87,587 × 14). This dataset contains both normal and malicious traffic samples across multiple threat categories.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Steps: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8288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■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8288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■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Encoding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2" marL="18288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■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Validation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Splitting and Balancing: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cleaned dataset was then divided into normal and attack subsets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6300" y="339625"/>
            <a:ext cx="52287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400975" y="664025"/>
            <a:ext cx="59220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 Dataset balancing</a:t>
            </a:r>
            <a:endParaRPr sz="25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400975" y="1414525"/>
            <a:ext cx="10812900" cy="3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dataset created showed high skewness i.e some threat classes (like Botnet or DoS) had thousands of samples, while others (like UDP Scan or SSH attacks) were underrepresented.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GAN (Generative Adversarial Network) was trained to generate synthetic samples for minority threat classes.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Generator learns to create realistic network traffic patterns,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the Discriminator distinguishes between real and synthetic data.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a balanced distribution across all threat categories in the Threats column.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706300" y="731350"/>
            <a:ext cx="59220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 Analysis</a:t>
            </a:r>
            <a:endParaRPr sz="25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67800" y="3145675"/>
            <a:ext cx="10812900" cy="3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5" name="Google Shape;195;p26"/>
          <p:cNvGraphicFramePr/>
          <p:nvPr/>
        </p:nvGraphicFramePr>
        <p:xfrm>
          <a:off x="5886350" y="167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{CE04F6F0-117D-425C-8B36-D3A45D378B3B}</a:tableStyleId>
              </a:tblPr>
              <a:tblGrid>
                <a:gridCol w="2663375"/>
                <a:gridCol w="2729725"/>
              </a:tblGrid>
              <a:tr h="81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Before Balancing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Shape = (149043 , 14)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GAN Balancing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Shape = (222534 , 14)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6"/>
          <p:cNvGraphicFramePr/>
          <p:nvPr/>
        </p:nvGraphicFramePr>
        <p:xfrm>
          <a:off x="634000" y="167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{CE04F6F0-117D-425C-8B36-D3A45D378B3B}</a:tableStyleId>
              </a:tblPr>
              <a:tblGrid>
                <a:gridCol w="2359825"/>
                <a:gridCol w="2359825"/>
              </a:tblGrid>
              <a:tr h="45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Full Dataset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(187587 , 14)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(19595, 14)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(149043 , 14)</a:t>
                      </a:r>
                      <a:endParaRPr sz="2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6"/>
          <p:cNvGraphicFramePr/>
          <p:nvPr/>
        </p:nvGraphicFramePr>
        <p:xfrm>
          <a:off x="844050" y="217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24120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 Traffic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8" name="Google Shape;198;p26"/>
          <p:cNvGraphicFramePr/>
          <p:nvPr/>
        </p:nvGraphicFramePr>
        <p:xfrm>
          <a:off x="1117100" y="258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9" name="Google Shape;199;p26"/>
          <p:cNvGraphicFramePr/>
          <p:nvPr/>
        </p:nvGraphicFramePr>
        <p:xfrm>
          <a:off x="844050" y="268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2253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 Traffic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0" name="Google Shape;200;p26"/>
          <p:cNvGraphicFramePr/>
          <p:nvPr/>
        </p:nvGraphicFramePr>
        <p:xfrm>
          <a:off x="1269500" y="308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{277AEEB4-5714-4091-98E3-DFDAF2081A82}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ctrTitle"/>
          </p:nvPr>
        </p:nvSpPr>
        <p:spPr>
          <a:xfrm>
            <a:off x="212775" y="34182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</a:t>
            </a: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Development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541425" y="966500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Autoencoder for Feature Extraction &amp; Reconstruction</a:t>
            </a:r>
            <a:b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 and reconstruct normal network traffic.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anomalies using high reconstruction errors.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Functions: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 → learns compressed latent representation of traffic features.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 → reconstructs input data from latent vector.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using MSE loss with early stopping for stability.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Chosen: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complex data relationships.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zero-day attacks based on reconstruction deviations.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compact latent vector (Z) for CRN’s temporal modeling.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8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442000" y="499750"/>
            <a:ext cx="109062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DAE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8" title="Screenshot 2025-10-31 0018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364" y="71300"/>
            <a:ext cx="403307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9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932450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166475" y="13090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 </a:t>
            </a: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</a:t>
            </a: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</a:t>
            </a:r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529925" y="715900"/>
            <a:ext cx="6046800" cy="6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SimpleDAE(input_dim, latent_dim = 64):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1: Create an input layer of size 'input_dim'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2: Build encoder: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Dense layer with max(64, latent_dim*4) units, ReLU.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Dense layer with latent_dim units → gives compressed latent representation.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3: Build decoder: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Dense layer with max(64, latent_dim*4) units, ReLU.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Dense layer with input_dim units → reconstructs input features.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4: Define models: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DAE model: input → encoder → decoder → output reconstruction.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Encoder model: input → encoder → latent representation.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5: Define optimizer as Adam (lr=0.001) and MSE loss.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6774975" y="840675"/>
            <a:ext cx="54171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 Train autoencoder: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Split dataset into train (90%) and validation (10%)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For each epoch: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a. Forward pass → compute reconstruction loss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b. Backpropagate → update weights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c. Check validation loss for early stopping (patience = 30)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d. Save best model when validation loss improves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Stop training if validation loss does not improve for 'patience' epochs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7: Load best model weights.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FUNCTION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0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932450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166475" y="13090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DAE Evaluation</a:t>
            </a:r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529925" y="715900"/>
            <a:ext cx="6046800" cy="6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74975" y="840675"/>
            <a:ext cx="54171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0" title="Screenshot 2025-11-05 2231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733425"/>
            <a:ext cx="10267950" cy="53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1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932450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166475" y="13090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DAE Evaluation</a:t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529925" y="715900"/>
            <a:ext cx="6046800" cy="6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6774975" y="840675"/>
            <a:ext cx="54171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690" y="1162650"/>
            <a:ext cx="5921700" cy="66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700" y="2274400"/>
            <a:ext cx="5988200" cy="34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/>
        </p:nvSpPr>
        <p:spPr>
          <a:xfrm>
            <a:off x="429825" y="276600"/>
            <a:ext cx="11661900" cy="6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Causal Recurrent Network (CRN)</a:t>
            </a:r>
            <a:br>
              <a:rPr b="1" lang="en-US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temporal dependencies in traffic patterns.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anomalies through prediction deviation.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Functions: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sequence patterns of latent vectors from DAE.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future behavior and measures prediction error (MSE).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 ensures optimal learning without overfitting.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Chosen: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time-dependent traffic data efficiently.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context-aware anomalies missed by static models.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combined with DAE, it provides dual anomaly signals — reconstruction + prediction errors.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3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604525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p33" title="Screenshot 2025-10-31 0026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175" y="463000"/>
            <a:ext cx="4058682" cy="543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4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932450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98225" y="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 Pseudo code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350800" y="752000"/>
            <a:ext cx="5921700" cy="60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CRN(latent_dim, hidden_units = 256, n_layers = 1, window_size = T):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1: Prepare input windows: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Use Z_all (latent features from DAE)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Create sliding windows of length 'window_size' → Xw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Next step prediction → Yw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2: Keep only normal/benign windows for training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3: Define LSTM-based CRN model: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LSTM layer with 'hidden_units' and 'n_layers'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Fully connected (linear) layer from hidden_units → latent_dim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4: Split dataset into train (90%) and validation (10%)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5: Define optimizer and loss: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Optimizer: Adam (lr = 0.001)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Loss function: MSELoss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6666775" y="752000"/>
            <a:ext cx="5131200" cy="40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6: Train model with Early Stopping (patience = 10):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a. Forward pass → predict next latent vector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b. Compute prediction loss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c. Backpropagate → update weights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d. Evaluate validation loss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e. Save best model if validation loss improves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f. Stop training if no improvement for 'patience' epochs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Step 7: Load best model weights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FUNCTION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5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932450" y="5852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166475" y="13090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 Evaluation</a:t>
            </a:r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529925" y="715900"/>
            <a:ext cx="6046800" cy="6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6774975" y="840675"/>
            <a:ext cx="54171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5" title="Screenshot 2025-11-05 2231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806" y="840675"/>
            <a:ext cx="9887518" cy="511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ctrTitle"/>
          </p:nvPr>
        </p:nvSpPr>
        <p:spPr>
          <a:xfrm>
            <a:off x="-602125" y="58527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Times New Roman"/>
              <a:buNone/>
            </a:pPr>
            <a:r>
              <a:t/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6"/>
          <p:cNvSpPr txBox="1"/>
          <p:nvPr>
            <p:ph idx="1" type="subTitle"/>
          </p:nvPr>
        </p:nvSpPr>
        <p:spPr>
          <a:xfrm flipH="1">
            <a:off x="12192261" y="39058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-216150" y="-1010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166475" y="130900"/>
            <a:ext cx="592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 Evaluation</a:t>
            </a:r>
            <a:endParaRPr/>
          </a:p>
        </p:txBody>
      </p:sp>
      <p:pic>
        <p:nvPicPr>
          <p:cNvPr id="291" name="Google Shape;2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925" y="940558"/>
            <a:ext cx="5375425" cy="69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175" y="1993900"/>
            <a:ext cx="2526250" cy="45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ctrTitle"/>
          </p:nvPr>
        </p:nvSpPr>
        <p:spPr>
          <a:xfrm>
            <a:off x="278225" y="247175"/>
            <a:ext cx="85788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/>
              <a:buNone/>
            </a:pP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3 - </a:t>
            </a:r>
            <a:r>
              <a:rPr lang="en-US" sz="264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Scoring &amp; Adaptive Thresholding</a:t>
            </a:r>
            <a:endParaRPr sz="2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37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620400" y="977450"/>
            <a:ext cx="10917000" cy="3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Error (CRN)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Measures temporal deviations in latent space using L2 norm between predicted and actual latent vectors.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Reconstruction Error (DAE)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Captures feature-level anomalies by comparing original and reconstructed samples.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Fusion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Normalizes and combines both errors to produce a single anomaly score per sample.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Thresholding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Computes a dynamic, moving-window threshold to detect anomalies in a causal manner.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Alarm Generation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Flags anomalies exceeding the threshold 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620400" y="977450"/>
            <a:ext cx="10917000" cy="3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6" name="Google Shape;30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113" y="1801200"/>
            <a:ext cx="8137774" cy="19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 txBox="1"/>
          <p:nvPr/>
        </p:nvSpPr>
        <p:spPr>
          <a:xfrm>
            <a:off x="558900" y="818400"/>
            <a:ext cx="4819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Threshold Result</a:t>
            </a:r>
            <a:endParaRPr sz="27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ctrTitle"/>
          </p:nvPr>
        </p:nvSpPr>
        <p:spPr>
          <a:xfrm>
            <a:off x="164800" y="104950"/>
            <a:ext cx="86715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4 - </a:t>
            </a: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- Known &amp; Zero day attacks detection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9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477200" y="0"/>
            <a:ext cx="11378700" cy="5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Attack Labels: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Threats column is taken  to form attack labels.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CatBoost Classifier: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CatBoost on balanced attack classes to classify the type of attack.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Class Centroids &amp; Thresholds: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attack class, calculate the centroid and 95th percentile distance to define known vs zero-day boundaries.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vs Attack Detection using Fused Score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DAE reconstruction error and CRN prediction error into a fused anomaly score; apply an adaptive threshold to detect attacks.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Packet Classification: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selected packets, check if normal or attack; if attack, classify type and determine known vs zero-day using centroid distance.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/>
        </p:nvSpPr>
        <p:spPr>
          <a:xfrm>
            <a:off x="429825" y="276600"/>
            <a:ext cx="11661900" cy="6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CatBoost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categories or numbers from structured data (like tables).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really well with datasets that have categorical features (like “protocol type” or “service”).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Functions: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decision trees step by step to reduce errors, using a special method called ordered boosting to avoid overfitting.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converts categorical data into a usable form without manual encoding.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regularization and early stopping to prevent overfitting.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Chosen: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for network traffic data, where many features are categorical.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less manual tuning compared to XGBoost or LightGBM.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outputs can be effectively fused with anomaly scores for zero-day attack detection, improving the robustness of classification models in cybersecurity pipelines.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ctrTitle"/>
          </p:nvPr>
        </p:nvSpPr>
        <p:spPr>
          <a:xfrm>
            <a:off x="278225" y="4753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CatBoost Evaluation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1"/>
          <p:cNvSpPr txBox="1"/>
          <p:nvPr>
            <p:ph idx="1" type="subTitle"/>
          </p:nvPr>
        </p:nvSpPr>
        <p:spPr>
          <a:xfrm flipH="1">
            <a:off x="12192261" y="3996524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1"/>
          <p:cNvSpPr txBox="1"/>
          <p:nvPr/>
        </p:nvSpPr>
        <p:spPr>
          <a:xfrm>
            <a:off x="620400" y="991949"/>
            <a:ext cx="11472600" cy="5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00" y="1695700"/>
            <a:ext cx="4675574" cy="31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3325" y="1642100"/>
            <a:ext cx="4882575" cy="393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/>
        </p:nvSpPr>
        <p:spPr>
          <a:xfrm>
            <a:off x="530100" y="490475"/>
            <a:ext cx="11661900" cy="6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42"/>
          <p:cNvPicPr preferRelativeResize="0"/>
          <p:nvPr/>
        </p:nvPicPr>
        <p:blipFill rotWithShape="1">
          <a:blip r:embed="rId3">
            <a:alphaModFix/>
          </a:blip>
          <a:srcRect b="0" l="0" r="0" t="1845"/>
          <a:stretch/>
        </p:blipFill>
        <p:spPr>
          <a:xfrm>
            <a:off x="1020200" y="1103550"/>
            <a:ext cx="10151602" cy="49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 txBox="1"/>
          <p:nvPr/>
        </p:nvSpPr>
        <p:spPr>
          <a:xfrm>
            <a:off x="530100" y="290875"/>
            <a:ext cx="5090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 Comparison</a:t>
            </a:r>
            <a:endParaRPr sz="2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ctrTitle"/>
          </p:nvPr>
        </p:nvSpPr>
        <p:spPr>
          <a:xfrm>
            <a:off x="477825" y="77472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Results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3"/>
          <p:cNvSpPr txBox="1"/>
          <p:nvPr>
            <p:ph idx="1" type="subTitle"/>
          </p:nvPr>
        </p:nvSpPr>
        <p:spPr>
          <a:xfrm flipH="1">
            <a:off x="12192261" y="3996524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620400" y="991949"/>
            <a:ext cx="11472600" cy="5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3" name="Google Shape;3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63" y="1706850"/>
            <a:ext cx="10787726" cy="30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ctrTitle"/>
          </p:nvPr>
        </p:nvSpPr>
        <p:spPr>
          <a:xfrm>
            <a:off x="378025" y="6767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Metrics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44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620400" y="977450"/>
            <a:ext cx="11472600" cy="5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638" y="1506800"/>
            <a:ext cx="8766425" cy="32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>
            <p:ph type="ctrTitle"/>
          </p:nvPr>
        </p:nvSpPr>
        <p:spPr>
          <a:xfrm>
            <a:off x="142175" y="50162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5 - Client-Master Deployment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5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0" y="133172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19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Monitoring: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 the trained ML model on a central “master” system responsible for analyzing data.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Configuration: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client system collects its own logs or network data and sends it to the master for processing.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Protocol: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socket programming or lightweight APIs (e.g., Flask) for real-time data transfer between clients and master.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Easily expandable architecture — more clients can be added with minimal changes to the master logic.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>
            <p:ph type="ctrTitle"/>
          </p:nvPr>
        </p:nvSpPr>
        <p:spPr>
          <a:xfrm>
            <a:off x="142175" y="50162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5 - Client-Master Deployment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46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0" y="133172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914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88" y="2163175"/>
            <a:ext cx="11098826" cy="28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 txBox="1"/>
          <p:nvPr/>
        </p:nvSpPr>
        <p:spPr>
          <a:xfrm>
            <a:off x="467550" y="1494400"/>
            <a:ext cx="8575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setup using FastAPI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ctrTitle"/>
          </p:nvPr>
        </p:nvSpPr>
        <p:spPr>
          <a:xfrm>
            <a:off x="142175" y="501625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5 - Client-Master Deployment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47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0" y="133172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914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467550" y="1494400"/>
            <a:ext cx="11372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: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 transmission log showing anomaly detection and classification results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25" y="2163175"/>
            <a:ext cx="10741750" cy="32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ctrTitle"/>
          </p:nvPr>
        </p:nvSpPr>
        <p:spPr>
          <a:xfrm>
            <a:off x="213225" y="4100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8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8"/>
          <p:cNvSpPr txBox="1"/>
          <p:nvPr/>
        </p:nvSpPr>
        <p:spPr>
          <a:xfrm>
            <a:off x="739050" y="108372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1950" lvl="0" marL="4572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Ubuntu 20.04 LTS / Windows 10 or later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</a:t>
            </a:r>
            <a:b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3.8 or above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Libraries/Frameworks:</a:t>
            </a:r>
            <a:b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TensorFlow 2.x or PyTorch (for Deep Autoencoder)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(for preprocessing, evaluation)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Pandas, NumPy (for data manipulation)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(for API communication between client and master)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 Notebook (for development/testing)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Monitoring Tools:</a:t>
            </a:r>
            <a:b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Wireshark (for packet capture on clients)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ctrTitle"/>
          </p:nvPr>
        </p:nvSpPr>
        <p:spPr>
          <a:xfrm>
            <a:off x="160325" y="4333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</a:t>
            </a: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REQUIREMENTS: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9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1007850" y="1177250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System: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Intel Core i5/i7 or AMD Ryzen 5 (or better)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Minimum 8 GB (16 GB recommended for real-time processing)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SSD with at least 50 GB free (logs, datasets, environment)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Ethernet/Wi-Fi (LAN recommended for faster log transfer)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Systems (2 nodes):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Intel Core i3 or equivalent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GB minimum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GB (for log generation and transmission)</a:t>
            </a:r>
            <a:b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Basic connectivity to send logs to master via socket/HTTP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type="ctrTitle"/>
          </p:nvPr>
        </p:nvSpPr>
        <p:spPr>
          <a:xfrm>
            <a:off x="-1973850" y="4697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CHART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50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50"/>
          <p:cNvSpPr txBox="1"/>
          <p:nvPr/>
        </p:nvSpPr>
        <p:spPr>
          <a:xfrm>
            <a:off x="726050" y="1180500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8" name="Google Shape;3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750" y="4507700"/>
            <a:ext cx="499050" cy="3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25" y="114300"/>
            <a:ext cx="10868025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>
            <p:ph type="ctrTitle"/>
          </p:nvPr>
        </p:nvSpPr>
        <p:spPr>
          <a:xfrm>
            <a:off x="-1503000" y="475100"/>
            <a:ext cx="7322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2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51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-328500" y="1205675"/>
            <a:ext cx="101763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 Xu, Y. Wang, and Y. Yu,“Anomaly Detection in Network Traffic Based on Deep Autoencoder,”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7, pp. 137422–137429, 2019.: 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https://arxiv.org/abs/1802.09572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Olugbenga, M. A. O. Binbusayyis, and M. S. Mahmud, “Machine Learning Approaches for Detection of Zero-Day Attacks: A Review,”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EEE Access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pp. 16846–16867, 2021: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https://ieeexplore.ieee.org/document/9448992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Sheikhalishahi, M. H. Yaghmaee, and M. Fathy, “A Real-Time Anomaly Detection System for IoT using Deep Autoencoder,”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Network and Computer Applications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170, p. 102767, 2020.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https://doi.org/10.1016/j.jnca.2020.102767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M. T. Nguyen and G. Armitage,“A Survey of Techniques for Internet Traffic Classification using Machine Learning,”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Communications Surveys &amp; Tutorials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no. 4, pp. 56–76, 2008.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https://doi.org/10.1109/SURV.2008.080406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Sarhan, S. Layeghy, M. Gallagher, and M. Portmann,“From Zero‑Shot Machine Learning to Zero‑Day Attack Detection,”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Information Security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 22, pp. 947–959, 2023: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https://doi.org/10.1007/s10207-023-00676-0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 Hindy, R. Atkinson, C. Tachtatzis, J.-N. Colin, E. Bayne, and X. Bellekens,“Utilising Deep Learning Techniques for Effective Zero‑Day Attack Detection,”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no. 10, p. 1684, 2020.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https://doi.org/10.3390/electronics9101684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idx="1" type="subTitle"/>
          </p:nvPr>
        </p:nvSpPr>
        <p:spPr>
          <a:xfrm flipH="1">
            <a:off x="12192261" y="3982025"/>
            <a:ext cx="14799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133"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 sz="2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-288625" y="368350"/>
            <a:ext cx="10984200" cy="6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Guo “A Review of Machine Learning-Based Zero-Day Attack Detection: Challenges and Future Directions,”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Communications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198, pp. 175–185, 2023: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https://doi.org/10.1016/j.comcom.2022.11.00</a:t>
            </a:r>
            <a:endParaRPr/>
          </a:p>
          <a:p>
            <a:pPr indent="-3429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Oluwadare and Z. ElSayed,“A Survey of Unsupervised Learning Algorithms for Zero-Day Attacks in Intrusion Detection Systems,”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FLAIRS Conference Proceedings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36, 2023: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https://doi.org/10.32473/flairs.36.133182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Dahal, P. Bajgai, and N. Rahimi,“Analysis of Zero Day Attack Detection Using MLP and XAI,”in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Communications in Computer and Information Science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2254, 2025.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https://doi.org/10.1007/978-3-031-86637-1_5</a:t>
            </a:r>
            <a:endParaRPr/>
          </a:p>
          <a:p>
            <a:pPr indent="-3429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Zhou and D. Pezaros,“Evaluation of Machine Learning Classifiers for Zero-Day Intrusion Detection—An Analysis on CIC-AWS-2018 Dataset,”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https://arxiv.org/abs/1905.03685</a:t>
            </a:r>
            <a:endParaRPr/>
          </a:p>
          <a:p>
            <a:pPr indent="-3429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T.-H. Chua and I. Salam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“Evaluation of Machine Learning Algorithms in Network-Based Intrusion Detection System,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2022: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https://arxiv.org/abs/2203.05232</a:t>
            </a:r>
            <a:endParaRPr/>
          </a:p>
          <a:p>
            <a:pPr indent="-3429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Ozay, I. Esnaola, F. T. Yarman-Vural, S. R. Kulkarni, and H. V. Poor,“Machine Learning Methods for Attack Detection in the Smart Grid,”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2015: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https://arxiv.org/abs/1503.06468</a:t>
            </a:r>
            <a:b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</a:br>
            <a:endParaRPr sz="18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/>
        </p:nvSpPr>
        <p:spPr>
          <a:xfrm>
            <a:off x="2970675" y="2495350"/>
            <a:ext cx="64677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